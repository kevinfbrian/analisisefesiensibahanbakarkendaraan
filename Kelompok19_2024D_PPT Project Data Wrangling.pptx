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Noto Serif Display Semi-Bold Italics" charset="1" panose="02020702080505090204"/>
      <p:regular r:id="rId25"/>
    </p:embeddedFont>
    <p:embeddedFont>
      <p:font typeface="Public Sans" charset="1" panose="00000000000000000000"/>
      <p:regular r:id="rId26"/>
    </p:embeddedFont>
    <p:embeddedFont>
      <p:font typeface="Public Sans Bold" charset="1" panose="000000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914400" y="3452684"/>
            <a:ext cx="11949646" cy="1348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12"/>
              </a:lnSpc>
            </a:pPr>
            <a:r>
              <a:rPr lang="en-US" b="true" sz="9465" i="true" spc="-463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 ANALISIS EFISIENSI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90575" y="4650341"/>
            <a:ext cx="15031961" cy="1268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30"/>
              </a:lnSpc>
            </a:pPr>
            <a:r>
              <a:rPr lang="en-US" b="true" sz="8937" i="true" spc="-437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 KONSUMSI BAHAN BAKAR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808500"/>
            <a:ext cx="5036818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Disusun oleh Kelompok 19 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18125" y="7792325"/>
            <a:ext cx="5036818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Dosen pengampu 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8192675"/>
            <a:ext cx="6469875" cy="108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53"/>
              </a:lnSpc>
            </a:pPr>
            <a:r>
              <a:rPr lang="en-US" sz="2038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Kevin Febrian Widhiarta(24031554025)</a:t>
            </a:r>
          </a:p>
          <a:p>
            <a:pPr algn="just">
              <a:lnSpc>
                <a:spcPts val="2853"/>
              </a:lnSpc>
            </a:pPr>
            <a:r>
              <a:rPr lang="en-US" sz="2038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Davan Juheins Tololiu (24031554157)</a:t>
            </a:r>
          </a:p>
          <a:p>
            <a:pPr algn="just">
              <a:lnSpc>
                <a:spcPts val="2853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818125" y="8176500"/>
            <a:ext cx="6469875" cy="108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53"/>
              </a:lnSpc>
            </a:pPr>
            <a:r>
              <a:rPr lang="en-US" sz="2038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Dinda Galuh Guminta, M.Stat.</a:t>
            </a:r>
          </a:p>
          <a:p>
            <a:pPr algn="just">
              <a:lnSpc>
                <a:spcPts val="2853"/>
              </a:lnSpc>
            </a:pPr>
            <a:r>
              <a:rPr lang="en-US" sz="2038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Belgis Ainatul Iza, S.Si., M.Mat.</a:t>
            </a:r>
          </a:p>
          <a:p>
            <a:pPr algn="just">
              <a:lnSpc>
                <a:spcPts val="2853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81075"/>
            <a:ext cx="9870888" cy="431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PROJECT MATA KULIAH DATA WRANGLING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88412" y="971550"/>
            <a:ext cx="9870888" cy="431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2024D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5094091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581577"/>
            <a:ext cx="5680431" cy="1065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14"/>
              </a:lnSpc>
            </a:pPr>
            <a:r>
              <a:rPr lang="en-US" b="true" sz="6928" i="true" spc="-339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Pendahuluan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909612"/>
            <a:ext cx="8115300" cy="1065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14"/>
              </a:lnSpc>
            </a:pPr>
            <a:r>
              <a:rPr lang="en-US" b="true" sz="6928" i="true" spc="-339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Rumusan Masalah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968417"/>
            <a:ext cx="16230600" cy="1893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6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Efisiensi bahan bakar menjadi perhatian utama, karena terdapat </a:t>
            </a:r>
            <a:r>
              <a:rPr lang="en-US" sz="2699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masalah lingkungan</a:t>
            </a:r>
            <a:r>
              <a:rPr lang="en-US" sz="26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(emisi gas rumah kaca) dan </a:t>
            </a:r>
            <a:r>
              <a:rPr lang="en-US" sz="2699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ekonomi </a:t>
            </a:r>
            <a:r>
              <a:rPr lang="en-US" sz="26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(biaya operasional kendaraan). </a:t>
            </a:r>
          </a:p>
          <a:p>
            <a:pPr algn="just">
              <a:lnSpc>
                <a:spcPts val="3779"/>
              </a:lnSpc>
            </a:pPr>
          </a:p>
          <a:p>
            <a:pPr algn="just">
              <a:lnSpc>
                <a:spcPts val="3779"/>
              </a:lnSpc>
            </a:pPr>
            <a:r>
              <a:rPr lang="en-US" sz="26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Keputusan pembelian kendaraan seringkali dipengaruhi oleh faktor teknis dan eksternal.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336978"/>
            <a:ext cx="16230600" cy="427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28" indent="-291464" lvl="1">
              <a:lnSpc>
                <a:spcPts val="3779"/>
              </a:lnSpc>
              <a:buAutoNum type="arabicPeriod" startAt="1"/>
            </a:pPr>
            <a:r>
              <a:rPr lang="en-US" sz="26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Bagaimana data teknis kendaraan yang kompleks dan data historis harga minyak dan bensin dapat diintegrasikan dan distandarisasi untuk menciptakan dataset terstruktur?</a:t>
            </a:r>
          </a:p>
          <a:p>
            <a:pPr algn="just" marL="582928" indent="-291464" lvl="1">
              <a:lnSpc>
                <a:spcPts val="3779"/>
              </a:lnSpc>
              <a:buAutoNum type="arabicPeriod" startAt="1"/>
            </a:pPr>
            <a:r>
              <a:rPr lang="en-US" sz="26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Bagaimana tren rata-rata Efisiensi BBM (km/L) dari tahun ke tahun berkorelasi dengan perubahan harga minyak mentah global dan harga bensin?</a:t>
            </a:r>
          </a:p>
          <a:p>
            <a:pPr algn="just" marL="582928" indent="-291464" lvl="1">
              <a:lnSpc>
                <a:spcPts val="3779"/>
              </a:lnSpc>
              <a:buAutoNum type="arabicPeriod" startAt="1"/>
            </a:pPr>
            <a:r>
              <a:rPr lang="en-US" sz="26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Bagaimana data kendaraan berintegrasi terhadap efisiensi untuk menentukan merek kendaraan dengan efisiensi serta inefisiensi(boros)?</a:t>
            </a:r>
          </a:p>
          <a:p>
            <a:pPr algn="just" marL="582928" indent="-291464" lvl="1">
              <a:lnSpc>
                <a:spcPts val="3779"/>
              </a:lnSpc>
              <a:buAutoNum type="arabicPeriod" startAt="1"/>
            </a:pPr>
            <a:r>
              <a:rPr lang="en-US" sz="26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Bagaimana mengetahui trend efisiensi BBM terhadap brand kendaraan?</a:t>
            </a:r>
          </a:p>
          <a:p>
            <a:pPr algn="just" marL="582928" indent="-291464" lvl="1">
              <a:lnSpc>
                <a:spcPts val="3779"/>
              </a:lnSpc>
              <a:buAutoNum type="arabicPeriod" startAt="1"/>
            </a:pPr>
            <a:r>
              <a:rPr lang="en-US" sz="26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Bagaimana hubungan harga minyak mentah dan harga BBM terhadap efisiensi kendaraan?</a:t>
            </a:r>
          </a:p>
          <a:p>
            <a:pPr algn="just">
              <a:lnSpc>
                <a:spcPts val="377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581577"/>
            <a:ext cx="5680431" cy="1065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14"/>
              </a:lnSpc>
            </a:pPr>
            <a:r>
              <a:rPr lang="en-US" b="true" sz="6928" i="true" spc="-339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Tujuan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148461"/>
            <a:ext cx="16230600" cy="475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28" indent="-291464" lvl="1">
              <a:lnSpc>
                <a:spcPts val="3779"/>
              </a:lnSpc>
              <a:buAutoNum type="arabicPeriod" startAt="1"/>
            </a:pPr>
            <a:r>
              <a:rPr lang="en-US" b="true" sz="26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Mengintegrasikan </a:t>
            </a:r>
            <a:r>
              <a:rPr lang="en-US" sz="26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data spesifikasi kendaraan, data efisiensi BBM, dan data historis harga minyak mentah berdasarkan Tahun. </a:t>
            </a:r>
          </a:p>
          <a:p>
            <a:pPr algn="just" marL="582928" indent="-291464" lvl="1">
              <a:lnSpc>
                <a:spcPts val="3779"/>
              </a:lnSpc>
              <a:buAutoNum type="arabicPeriod" startAt="1"/>
            </a:pPr>
            <a:r>
              <a:rPr lang="en-US" b="true" sz="26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Membersihkan data</a:t>
            </a:r>
            <a:r>
              <a:rPr lang="en-US" sz="26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dan mengkonversi satuan efisiensi BBM.</a:t>
            </a:r>
          </a:p>
          <a:p>
            <a:pPr algn="just" marL="582928" indent="-291464" lvl="1">
              <a:lnSpc>
                <a:spcPts val="3779"/>
              </a:lnSpc>
              <a:buAutoNum type="arabicPeriod" startAt="1"/>
            </a:pPr>
            <a:r>
              <a:rPr lang="en-US" sz="26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Melakukan </a:t>
            </a:r>
            <a:r>
              <a:rPr lang="en-US" b="true" sz="26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eksplorasi data </a:t>
            </a:r>
            <a:r>
              <a:rPr lang="en-US" sz="26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untuk mengidentifikasi korelasi antara variabel teknis fitur dengan efisiensi BBM, serta korelasi temporal dengan harga minyak global.</a:t>
            </a:r>
          </a:p>
          <a:p>
            <a:pPr algn="just" marL="582928" indent="-291464" lvl="1">
              <a:lnSpc>
                <a:spcPts val="3779"/>
              </a:lnSpc>
              <a:buAutoNum type="arabicPeriod" startAt="1"/>
            </a:pPr>
            <a:r>
              <a:rPr lang="en-US" b="true" sz="26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Menganalisis </a:t>
            </a:r>
            <a:r>
              <a:rPr lang="en-US" sz="26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efisiensi kendaraan dari tahun ke tahun berdasarkan data historis untuk mengambil kesimpulan apakah terjadi peningkatan atau penurunan efisiensi dalam periode tertentu.</a:t>
            </a:r>
          </a:p>
          <a:p>
            <a:pPr algn="just" marL="582928" indent="-291464" lvl="1">
              <a:lnSpc>
                <a:spcPts val="3779"/>
              </a:lnSpc>
              <a:buAutoNum type="arabicPeriod" startAt="1"/>
            </a:pPr>
            <a:r>
              <a:rPr lang="en-US" sz="26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Mengetahui merek kendaraan </a:t>
            </a:r>
            <a:r>
              <a:rPr lang="en-US" b="true" sz="26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paling efisien </a:t>
            </a:r>
            <a:r>
              <a:rPr lang="en-US" sz="26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dan </a:t>
            </a:r>
            <a:r>
              <a:rPr lang="en-US" b="true" sz="26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boros </a:t>
            </a:r>
            <a:r>
              <a:rPr lang="en-US" sz="26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berdasarkan analisis merek terhadap efisiensi kendaraan.</a:t>
            </a:r>
          </a:p>
          <a:p>
            <a:pPr algn="just" marL="582928" indent="-291464" lvl="1">
              <a:lnSpc>
                <a:spcPts val="3779"/>
              </a:lnSpc>
              <a:buAutoNum type="arabicPeriod" startAt="1"/>
            </a:pPr>
            <a:r>
              <a:rPr lang="en-US" sz="26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Melakukan </a:t>
            </a:r>
            <a:r>
              <a:rPr lang="en-US" b="true" sz="26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analisis korelasi </a:t>
            </a:r>
            <a:r>
              <a:rPr lang="en-US" sz="26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harga minyak mentah terhadap efisiensi kendaraan.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581577"/>
            <a:ext cx="5680431" cy="1065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14"/>
              </a:lnSpc>
            </a:pPr>
            <a:r>
              <a:rPr lang="en-US" b="true" sz="6928" i="true" spc="-339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Manfaat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056001"/>
            <a:ext cx="7747400" cy="427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28" indent="-291464" lvl="1">
              <a:lnSpc>
                <a:spcPts val="3779"/>
              </a:lnSpc>
              <a:buAutoNum type="arabicPeriod" startAt="1"/>
            </a:pPr>
            <a:r>
              <a:rPr lang="en-US" b="true" sz="26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Bagi Konsumen:</a:t>
            </a:r>
            <a:r>
              <a:rPr lang="en-US" sz="26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Memberikan wawasan berbasis data untuk </a:t>
            </a:r>
            <a:r>
              <a:rPr lang="en-US" b="true" sz="26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membandingkan efisiensi berbagai model kendaraan</a:t>
            </a:r>
            <a:r>
              <a:rPr lang="en-US" sz="26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s</a:t>
            </a:r>
            <a:r>
              <a:rPr lang="en-US" sz="26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ebelum membeli. </a:t>
            </a:r>
          </a:p>
          <a:p>
            <a:pPr algn="just">
              <a:lnSpc>
                <a:spcPts val="3779"/>
              </a:lnSpc>
            </a:pPr>
          </a:p>
          <a:p>
            <a:pPr algn="just" marL="582928" indent="-291464" lvl="1">
              <a:lnSpc>
                <a:spcPts val="3779"/>
              </a:lnSpc>
              <a:buAutoNum type="arabicPeriod" startAt="1"/>
            </a:pPr>
            <a:r>
              <a:rPr lang="en-US" b="true" sz="26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</a:t>
            </a:r>
            <a:r>
              <a:rPr lang="en-US" b="true" sz="26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agi Industri Otomotif:</a:t>
            </a:r>
            <a:r>
              <a:rPr lang="en-US" sz="26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b="true" sz="26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Mengidentifikasi fitur teknis</a:t>
            </a:r>
            <a:r>
              <a:rPr lang="en-US" sz="26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(misalnya, jenis transmisi, ukuran mesin) yang paling berkorelasi dengan efisiensi tinggi.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235675" y="1614041"/>
            <a:ext cx="7747400" cy="236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</a:p>
          <a:p>
            <a:pPr algn="just" marL="582928" indent="-291464" lvl="1">
              <a:lnSpc>
                <a:spcPts val="3779"/>
              </a:lnSpc>
              <a:buAutoNum type="arabicPeriod" startAt="1"/>
            </a:pPr>
            <a:r>
              <a:rPr lang="en-US" b="true" sz="26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</a:t>
            </a:r>
            <a:r>
              <a:rPr lang="en-US" b="true" sz="26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agi Kebijakan Energi:</a:t>
            </a:r>
            <a:r>
              <a:rPr lang="en-US" sz="26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Menyediakan dasar data untuk studi </a:t>
            </a:r>
            <a:r>
              <a:rPr lang="en-US" b="true" sz="26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dampak fluktuasi harga energi terhadap tren efisiensi</a:t>
            </a:r>
            <a:r>
              <a:rPr lang="en-US" sz="26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yang ditawarkan pabrikan.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3338451" y="2139383"/>
            <a:ext cx="11611099" cy="7654320"/>
          </a:xfrm>
          <a:custGeom>
            <a:avLst/>
            <a:gdLst/>
            <a:ahLst/>
            <a:cxnLst/>
            <a:rect r="r" b="b" t="t" l="l"/>
            <a:pathLst>
              <a:path h="7654320" w="11611099">
                <a:moveTo>
                  <a:pt x="0" y="0"/>
                </a:moveTo>
                <a:lnTo>
                  <a:pt x="11611098" y="0"/>
                </a:lnTo>
                <a:lnTo>
                  <a:pt x="11611098" y="7654320"/>
                </a:lnTo>
                <a:lnTo>
                  <a:pt x="0" y="76543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81577"/>
            <a:ext cx="5680431" cy="1065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14"/>
              </a:lnSpc>
            </a:pPr>
            <a:r>
              <a:rPr lang="en-US" b="true" sz="6928" i="true" spc="-339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Pipeline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771298"/>
            <a:ext cx="10031120" cy="6487002"/>
          </a:xfrm>
          <a:custGeom>
            <a:avLst/>
            <a:gdLst/>
            <a:ahLst/>
            <a:cxnLst/>
            <a:rect r="r" b="b" t="t" l="l"/>
            <a:pathLst>
              <a:path h="6487002" w="10031120">
                <a:moveTo>
                  <a:pt x="0" y="0"/>
                </a:moveTo>
                <a:lnTo>
                  <a:pt x="10031120" y="0"/>
                </a:lnTo>
                <a:lnTo>
                  <a:pt x="10031120" y="6487002"/>
                </a:lnTo>
                <a:lnTo>
                  <a:pt x="0" y="64870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885118"/>
            <a:ext cx="3795526" cy="886180"/>
          </a:xfrm>
          <a:custGeom>
            <a:avLst/>
            <a:gdLst/>
            <a:ahLst/>
            <a:cxnLst/>
            <a:rect r="r" b="b" t="t" l="l"/>
            <a:pathLst>
              <a:path h="886180" w="3795526">
                <a:moveTo>
                  <a:pt x="0" y="0"/>
                </a:moveTo>
                <a:lnTo>
                  <a:pt x="3795526" y="0"/>
                </a:lnTo>
                <a:lnTo>
                  <a:pt x="3795526" y="886180"/>
                </a:lnTo>
                <a:lnTo>
                  <a:pt x="0" y="8861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581577"/>
            <a:ext cx="5680431" cy="1065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14"/>
              </a:lnSpc>
            </a:pPr>
            <a:r>
              <a:rPr lang="en-US" b="true" sz="6928" i="true" spc="-339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Metode Proses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908320" y="1052372"/>
            <a:ext cx="11350980" cy="465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20"/>
              </a:lnSpc>
            </a:pPr>
            <a:r>
              <a:rPr lang="en-US" sz="2657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Import Data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58502" y="2460667"/>
            <a:ext cx="16200798" cy="7047347"/>
          </a:xfrm>
          <a:custGeom>
            <a:avLst/>
            <a:gdLst/>
            <a:ahLst/>
            <a:cxnLst/>
            <a:rect r="r" b="b" t="t" l="l"/>
            <a:pathLst>
              <a:path h="7047347" w="16200798">
                <a:moveTo>
                  <a:pt x="0" y="0"/>
                </a:moveTo>
                <a:lnTo>
                  <a:pt x="16200798" y="0"/>
                </a:lnTo>
                <a:lnTo>
                  <a:pt x="16200798" y="7047347"/>
                </a:lnTo>
                <a:lnTo>
                  <a:pt x="0" y="70473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81577"/>
            <a:ext cx="5680431" cy="1065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14"/>
              </a:lnSpc>
            </a:pPr>
            <a:r>
              <a:rPr lang="en-US" b="true" sz="6928" i="true" spc="-339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Metode Proses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08320" y="1052372"/>
            <a:ext cx="11350980" cy="465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20"/>
              </a:lnSpc>
            </a:pPr>
            <a:r>
              <a:rPr lang="en-US" sz="2657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Clean Data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8502" y="1854251"/>
            <a:ext cx="11350980" cy="465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20"/>
              </a:lnSpc>
            </a:pPr>
            <a:r>
              <a:rPr lang="en-US" sz="2657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Data Kendaraan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58502" y="2558208"/>
            <a:ext cx="11828949" cy="2843346"/>
          </a:xfrm>
          <a:custGeom>
            <a:avLst/>
            <a:gdLst/>
            <a:ahLst/>
            <a:cxnLst/>
            <a:rect r="r" b="b" t="t" l="l"/>
            <a:pathLst>
              <a:path h="2843346" w="11828949">
                <a:moveTo>
                  <a:pt x="0" y="0"/>
                </a:moveTo>
                <a:lnTo>
                  <a:pt x="11828949" y="0"/>
                </a:lnTo>
                <a:lnTo>
                  <a:pt x="11828949" y="2843347"/>
                </a:lnTo>
                <a:lnTo>
                  <a:pt x="0" y="28433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81577"/>
            <a:ext cx="5680431" cy="1065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14"/>
              </a:lnSpc>
            </a:pPr>
            <a:r>
              <a:rPr lang="en-US" b="true" sz="6928" i="true" spc="-339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Metode Proses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08320" y="1052372"/>
            <a:ext cx="11350980" cy="465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20"/>
              </a:lnSpc>
            </a:pPr>
            <a:r>
              <a:rPr lang="en-US" sz="2657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Clean Data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8502" y="1854251"/>
            <a:ext cx="11350980" cy="465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20"/>
              </a:lnSpc>
            </a:pPr>
            <a:r>
              <a:rPr lang="en-US" sz="2657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Harga Minyak Mentah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58502" y="2424858"/>
            <a:ext cx="10525308" cy="4159523"/>
          </a:xfrm>
          <a:custGeom>
            <a:avLst/>
            <a:gdLst/>
            <a:ahLst/>
            <a:cxnLst/>
            <a:rect r="r" b="b" t="t" l="l"/>
            <a:pathLst>
              <a:path h="4159523" w="10525308">
                <a:moveTo>
                  <a:pt x="0" y="0"/>
                </a:moveTo>
                <a:lnTo>
                  <a:pt x="10525308" y="0"/>
                </a:lnTo>
                <a:lnTo>
                  <a:pt x="10525308" y="4159523"/>
                </a:lnTo>
                <a:lnTo>
                  <a:pt x="0" y="41595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06544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664710" y="5694019"/>
            <a:ext cx="10072062" cy="4240917"/>
          </a:xfrm>
          <a:custGeom>
            <a:avLst/>
            <a:gdLst/>
            <a:ahLst/>
            <a:cxnLst/>
            <a:rect r="r" b="b" t="t" l="l"/>
            <a:pathLst>
              <a:path h="4240917" w="10072062">
                <a:moveTo>
                  <a:pt x="0" y="0"/>
                </a:moveTo>
                <a:lnTo>
                  <a:pt x="10072062" y="0"/>
                </a:lnTo>
                <a:lnTo>
                  <a:pt x="10072062" y="4240917"/>
                </a:lnTo>
                <a:lnTo>
                  <a:pt x="0" y="42409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857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581577"/>
            <a:ext cx="5680431" cy="1065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14"/>
              </a:lnSpc>
            </a:pPr>
            <a:r>
              <a:rPr lang="en-US" b="true" sz="6928" i="true" spc="-339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Metode Proses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908320" y="1052372"/>
            <a:ext cx="11350980" cy="465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20"/>
              </a:lnSpc>
            </a:pPr>
            <a:r>
              <a:rPr lang="en-US" sz="2657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Clean Data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8502" y="1854251"/>
            <a:ext cx="11350980" cy="465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20"/>
              </a:lnSpc>
            </a:pPr>
            <a:r>
              <a:rPr lang="en-US" sz="2657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Harga Bensin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018468"/>
            <a:ext cx="10348785" cy="1909518"/>
          </a:xfrm>
          <a:custGeom>
            <a:avLst/>
            <a:gdLst/>
            <a:ahLst/>
            <a:cxnLst/>
            <a:rect r="r" b="b" t="t" l="l"/>
            <a:pathLst>
              <a:path h="1909518" w="10348785">
                <a:moveTo>
                  <a:pt x="0" y="0"/>
                </a:moveTo>
                <a:lnTo>
                  <a:pt x="10348785" y="0"/>
                </a:lnTo>
                <a:lnTo>
                  <a:pt x="10348785" y="1909518"/>
                </a:lnTo>
                <a:lnTo>
                  <a:pt x="0" y="19095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81577"/>
            <a:ext cx="5680431" cy="1065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14"/>
              </a:lnSpc>
            </a:pPr>
            <a:r>
              <a:rPr lang="en-US" b="true" sz="6928" i="true" spc="-339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Metode Proses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08320" y="1052372"/>
            <a:ext cx="11350980" cy="465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20"/>
              </a:lnSpc>
            </a:pPr>
            <a:r>
              <a:rPr lang="en-US" sz="2657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Integrasi Data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236239"/>
            <a:ext cx="13344702" cy="5204434"/>
          </a:xfrm>
          <a:custGeom>
            <a:avLst/>
            <a:gdLst/>
            <a:ahLst/>
            <a:cxnLst/>
            <a:rect r="r" b="b" t="t" l="l"/>
            <a:pathLst>
              <a:path h="5204434" w="13344702">
                <a:moveTo>
                  <a:pt x="0" y="0"/>
                </a:moveTo>
                <a:lnTo>
                  <a:pt x="13344702" y="0"/>
                </a:lnTo>
                <a:lnTo>
                  <a:pt x="13344702" y="5204434"/>
                </a:lnTo>
                <a:lnTo>
                  <a:pt x="0" y="52044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81577"/>
            <a:ext cx="5680431" cy="1065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14"/>
              </a:lnSpc>
            </a:pPr>
            <a:r>
              <a:rPr lang="en-US" b="true" sz="6928" i="true" spc="-339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Metode Proses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08320" y="1052372"/>
            <a:ext cx="11350980" cy="465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20"/>
              </a:lnSpc>
            </a:pPr>
            <a:r>
              <a:rPr lang="en-US" sz="2657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Eksplorasi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818443"/>
            <a:ext cx="15375793" cy="1179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20"/>
              </a:lnSpc>
            </a:pPr>
            <a:r>
              <a:rPr lang="en-US" sz="2657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Menghitung Biaya Bahan Bakar Tahunan</a:t>
            </a:r>
          </a:p>
          <a:p>
            <a:pPr algn="just">
              <a:lnSpc>
                <a:spcPts val="2880"/>
              </a:lnSpc>
            </a:pPr>
            <a:r>
              <a:rPr lang="en-US" sz="2057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- Jarak tempuh tahunan rata-rata: Kita a</a:t>
            </a:r>
            <a:r>
              <a:rPr lang="en-US" sz="2057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kan menggunakan 15.000 km sebagai standar.</a:t>
            </a:r>
          </a:p>
          <a:p>
            <a:pPr algn="just">
              <a:lnSpc>
                <a:spcPts val="2740"/>
              </a:lnSpc>
            </a:pPr>
            <a:r>
              <a:rPr lang="en-US" sz="1957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- Konversi satuan: harga bensin dari USD per galon ke USD per liter (1 galon = 3.78541 liter).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3041728" y="2310199"/>
            <a:ext cx="12204544" cy="6806038"/>
          </a:xfrm>
          <a:custGeom>
            <a:avLst/>
            <a:gdLst/>
            <a:ahLst/>
            <a:cxnLst/>
            <a:rect r="r" b="b" t="t" l="l"/>
            <a:pathLst>
              <a:path h="6806038" w="12204544">
                <a:moveTo>
                  <a:pt x="0" y="0"/>
                </a:moveTo>
                <a:lnTo>
                  <a:pt x="12204544" y="0"/>
                </a:lnTo>
                <a:lnTo>
                  <a:pt x="12204544" y="6806037"/>
                </a:lnTo>
                <a:lnTo>
                  <a:pt x="0" y="68060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81577"/>
            <a:ext cx="10274543" cy="106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14"/>
              </a:lnSpc>
            </a:pPr>
            <a:r>
              <a:rPr lang="en-US" b="true" sz="6928" i="true" spc="-339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Visualisasi dan Analisis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08320" y="1052372"/>
            <a:ext cx="11350980" cy="465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20"/>
              </a:lnSpc>
            </a:pPr>
            <a:r>
              <a:rPr lang="en-US" sz="2657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Tren Efesiensi Tahunan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708388"/>
            <a:ext cx="8115300" cy="4984524"/>
          </a:xfrm>
          <a:custGeom>
            <a:avLst/>
            <a:gdLst/>
            <a:ahLst/>
            <a:cxnLst/>
            <a:rect r="r" b="b" t="t" l="l"/>
            <a:pathLst>
              <a:path h="4984524" w="8115300">
                <a:moveTo>
                  <a:pt x="0" y="0"/>
                </a:moveTo>
                <a:lnTo>
                  <a:pt x="8115300" y="0"/>
                </a:lnTo>
                <a:lnTo>
                  <a:pt x="8115300" y="4984524"/>
                </a:lnTo>
                <a:lnTo>
                  <a:pt x="0" y="49845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37041" y="2708388"/>
            <a:ext cx="8122259" cy="4971285"/>
          </a:xfrm>
          <a:custGeom>
            <a:avLst/>
            <a:gdLst/>
            <a:ahLst/>
            <a:cxnLst/>
            <a:rect r="r" b="b" t="t" l="l"/>
            <a:pathLst>
              <a:path h="4971285" w="8122259">
                <a:moveTo>
                  <a:pt x="0" y="0"/>
                </a:moveTo>
                <a:lnTo>
                  <a:pt x="8122259" y="0"/>
                </a:lnTo>
                <a:lnTo>
                  <a:pt x="8122259" y="4971285"/>
                </a:lnTo>
                <a:lnTo>
                  <a:pt x="0" y="49712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864" r="0" b="-561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581577"/>
            <a:ext cx="10274543" cy="106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14"/>
              </a:lnSpc>
            </a:pPr>
            <a:r>
              <a:rPr lang="en-US" b="true" sz="6928" i="true" spc="-339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Visualisasi dan Analisis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908320" y="1052372"/>
            <a:ext cx="11350980" cy="465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20"/>
              </a:lnSpc>
            </a:pPr>
            <a:r>
              <a:rPr lang="en-US" sz="2657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Tren Harga Minyak Mentah dan Bensin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639645" y="2768856"/>
            <a:ext cx="13027759" cy="6356219"/>
          </a:xfrm>
          <a:custGeom>
            <a:avLst/>
            <a:gdLst/>
            <a:ahLst/>
            <a:cxnLst/>
            <a:rect r="r" b="b" t="t" l="l"/>
            <a:pathLst>
              <a:path h="6356219" w="13027759">
                <a:moveTo>
                  <a:pt x="0" y="0"/>
                </a:moveTo>
                <a:lnTo>
                  <a:pt x="13027760" y="0"/>
                </a:lnTo>
                <a:lnTo>
                  <a:pt x="13027760" y="6356219"/>
                </a:lnTo>
                <a:lnTo>
                  <a:pt x="0" y="6356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81577"/>
            <a:ext cx="10274543" cy="106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14"/>
              </a:lnSpc>
            </a:pPr>
            <a:r>
              <a:rPr lang="en-US" b="true" sz="6928" i="true" spc="-339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Visualisasi dan Analisis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08320" y="1164099"/>
            <a:ext cx="11350980" cy="324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00"/>
              </a:lnSpc>
            </a:pPr>
            <a:r>
              <a:rPr lang="en-US" sz="1857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Tren Harga Minyak Mentah terhadap Efesiensi Kendaraan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729932" y="2420586"/>
            <a:ext cx="12828136" cy="6301822"/>
          </a:xfrm>
          <a:custGeom>
            <a:avLst/>
            <a:gdLst/>
            <a:ahLst/>
            <a:cxnLst/>
            <a:rect r="r" b="b" t="t" l="l"/>
            <a:pathLst>
              <a:path h="6301822" w="12828136">
                <a:moveTo>
                  <a:pt x="0" y="0"/>
                </a:moveTo>
                <a:lnTo>
                  <a:pt x="12828136" y="0"/>
                </a:lnTo>
                <a:lnTo>
                  <a:pt x="12828136" y="6301822"/>
                </a:lnTo>
                <a:lnTo>
                  <a:pt x="0" y="63018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81577"/>
            <a:ext cx="10274543" cy="106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14"/>
              </a:lnSpc>
            </a:pPr>
            <a:r>
              <a:rPr lang="en-US" b="true" sz="6928" i="true" spc="-339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Visualisasi dan Analisis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1751768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561171" y="3026255"/>
            <a:ext cx="13165657" cy="5118149"/>
          </a:xfrm>
          <a:custGeom>
            <a:avLst/>
            <a:gdLst/>
            <a:ahLst/>
            <a:cxnLst/>
            <a:rect r="r" b="b" t="t" l="l"/>
            <a:pathLst>
              <a:path h="5118149" w="13165657">
                <a:moveTo>
                  <a:pt x="0" y="0"/>
                </a:moveTo>
                <a:lnTo>
                  <a:pt x="13165658" y="0"/>
                </a:lnTo>
                <a:lnTo>
                  <a:pt x="13165658" y="5118149"/>
                </a:lnTo>
                <a:lnTo>
                  <a:pt x="0" y="51181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81577"/>
            <a:ext cx="10274543" cy="106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14"/>
              </a:lnSpc>
            </a:pPr>
            <a:r>
              <a:rPr lang="en-US" b="true" sz="6928" i="true" spc="-339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Visualisasi dan Analisis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026363"/>
            <a:ext cx="8397509" cy="1126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22"/>
              </a:lnSpc>
            </a:pPr>
            <a:r>
              <a:rPr lang="en-US" b="true" sz="7435" i="true" spc="-364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﻿Hasil dan Analisa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485867"/>
            <a:ext cx="9818699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Berdasarkan proses pengolahan data efisiensi kendaraan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59143" y="3251042"/>
            <a:ext cx="15769714" cy="3060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Pada rentang 2016-2025 tren efisiensi kendaraan cenderung </a:t>
            </a: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mengalami peningkatan</a:t>
            </a: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.</a:t>
            </a:r>
          </a:p>
          <a:p>
            <a:pPr algn="just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Harga minyak mentah memiliki korelasi yang </a:t>
            </a: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lemah </a:t>
            </a: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terhadap efisiensi kendaraan.</a:t>
            </a:r>
          </a:p>
          <a:p>
            <a:pPr algn="just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Dalam hal efisiensi, terdapat beberapa merek kendaraan yang masuk dalam kategori inefisiensi(boros).</a:t>
            </a:r>
          </a:p>
          <a:p>
            <a:pPr algn="just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Faktor teknologi dan regulasi </a:t>
            </a: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lebih dominan</a:t>
            </a: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dibandingkan harga minyak mentah dalam membentuk trend efisiensi kendaraan.</a:t>
            </a:r>
          </a:p>
          <a:p>
            <a:pPr algn="just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Tiap tahun, trend efisiensi</a:t>
            </a:r>
            <a:r>
              <a:rPr lang="en-US" b="true" sz="24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mengalami peningkatan bertahap,</a:t>
            </a: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tidak terdapat lonjakan yang signifikan.</a:t>
            </a:r>
          </a:p>
          <a:p>
            <a:pPr algn="just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Cleaning data dan integrasi data dapat meningkatkan kualitas analisis.</a:t>
            </a:r>
          </a:p>
        </p:txBody>
      </p:sp>
      <p:sp>
        <p:nvSpPr>
          <p:cNvPr name="AutoShape 5" id="5"/>
          <p:cNvSpPr/>
          <p:nvPr/>
        </p:nvSpPr>
        <p:spPr>
          <a:xfrm>
            <a:off x="1028700" y="2347755"/>
            <a:ext cx="16230600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422650"/>
            <a:ext cx="8397509" cy="3378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22"/>
              </a:lnSpc>
            </a:pPr>
            <a:r>
              <a:rPr lang="en-US" b="true" sz="7435" i="true" spc="-364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﻿Kendala dan Rencana Tindak Lanjut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8447655" y="3016250"/>
            <a:ext cx="696345" cy="209559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8447655" y="5143500"/>
            <a:ext cx="696345" cy="173672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8375166" y="5039354"/>
            <a:ext cx="144978" cy="14497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426209" y="2420305"/>
            <a:ext cx="7381569" cy="870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Data yang akan diproses masih terdapat keterbatasan ketersediaan data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26209" y="5243109"/>
            <a:ext cx="7381569" cy="34993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Membangun model regresi time series untuk </a:t>
            </a:r>
            <a:r>
              <a:rPr lang="en-US" sz="2499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memprediksi tingkat efisiensi</a:t>
            </a: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yang optimal di masa depan. 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Hasil analisis juga dapat dijadikan sebagai landasan </a:t>
            </a:r>
            <a:r>
              <a:rPr lang="en-US" sz="2499" b="true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perencanaan strategis</a:t>
            </a:r>
            <a:r>
              <a:rPr lang="en-US" sz="2499">
                <a:solidFill>
                  <a:srgbClr val="333333"/>
                </a:solidFill>
                <a:latin typeface="Public Sans"/>
                <a:ea typeface="Public Sans"/>
                <a:cs typeface="Public Sans"/>
                <a:sym typeface="Public Sans"/>
              </a:rPr>
              <a:t> dan investasi jangka panjang bagi industri kendaraan.</a:t>
            </a:r>
          </a:p>
          <a:p>
            <a:pPr algn="just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5570620"/>
            <a:ext cx="1835196" cy="0"/>
          </a:xfrm>
          <a:prstGeom prst="line">
            <a:avLst/>
          </a:prstGeom>
          <a:ln cap="flat" w="28575">
            <a:solidFill>
              <a:srgbClr val="3333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700" y="3533775"/>
            <a:ext cx="8809334" cy="165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25"/>
              </a:lnSpc>
            </a:pPr>
            <a:r>
              <a:rPr lang="en-US" b="true" sz="10854" i="true" spc="-531">
                <a:solidFill>
                  <a:srgbClr val="333333"/>
                </a:solidFill>
                <a:latin typeface="Noto Serif Display Semi-Bold Italics"/>
                <a:ea typeface="Noto Serif Display Semi-Bold Italics"/>
                <a:cs typeface="Noto Serif Display Semi-Bold Italics"/>
                <a:sym typeface="Noto Serif Display Semi-Bold Italics"/>
              </a:rPr>
              <a:t>Thank you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232293" y="5181600"/>
            <a:ext cx="6605742" cy="661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19"/>
              </a:lnSpc>
            </a:pPr>
            <a:r>
              <a:rPr lang="en-US" b="true" sz="3799">
                <a:solidFill>
                  <a:srgbClr val="333333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DAG5m3PyTH0</dc:identifier>
  <dcterms:modified xsi:type="dcterms:W3CDTF">2011-08-01T06:04:30Z</dcterms:modified>
  <cp:revision>1</cp:revision>
  <dc:title>Kelompok19_2024D_PPT Project Data Wrangling</dc:title>
</cp:coreProperties>
</file>